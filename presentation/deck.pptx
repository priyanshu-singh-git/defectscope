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ok" id="{9bc89371-0c22-3afc-fe62-fecee0f72fb8}">
          <p14:sldIdLst>
            <p14:sldId id="256"/>
          </p14:sldIdLst>
        </p14:section>
        <p14:section name="Problem" id="{1c080237-4f48-c938-cafe-3cfb7b336872}">
          <p14:sldIdLst>
            <p14:sldId id="257"/>
          </p14:sldIdLst>
        </p14:section>
        <p14:section name="Solution" id="{38d83439-2c65-0ed4-628c-bc184433e50c}">
          <p14:sldIdLst>
            <p14:sldId id="258"/>
          </p14:sldIdLst>
        </p14:section>
        <p14:section name="Results" id="{4c91433b-b1f7-0167-4212-eb321d519b3e}">
          <p14:sldIdLst>
            <p14:sldId id="259"/>
            <p14:sldId id="260"/>
            <p14:sldId id="261"/>
          </p14:sldIdLst>
        </p14:section>
        <p14:section name="Working together" id="{ee611d1f-ef7a-10b3-e5ab-72891e844316}">
          <p14:sldIdLst>
            <p14:sldId id="262"/>
          </p14:sldIdLst>
        </p14:section>
        <p14:section name="Call to action" id="{7acc09b3-df5f-0943-0341-7b7b6d4928f7}">
          <p14:sldIdLst>
            <p14:sldId id="263"/>
          </p14:sldIdLst>
        </p14:section>
        <p14:section name="Appendix" id="{3b0009d7-8ef5-ccad-b1c0-7e388f50a0b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+mn-lt"/>
              </a:rPr>
              <a:t>4 backbones, same pipeline (mean over 5 MVTec AD categories)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 AUROC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WideResNet-50</c:v>
                  </c:pt>
                  <c:pt idx="1">
                    <c:v>ResNet-18</c:v>
                  </c:pt>
                  <c:pt idx="2">
                    <c:v>ConvNeXt-Tiny</c:v>
                  </c:pt>
                  <c:pt idx="3">
                    <c:v>DINOv2 ViT-S/14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0.989</c:v>
                </c:pt>
                <c:pt idx="2">
                  <c:v>0.98</c:v>
                </c:pt>
                <c:pt idx="3">
                  <c:v>0.959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Pixel AUROC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WideResNet-50</c:v>
                  </c:pt>
                  <c:pt idx="1">
                    <c:v>ResNet-18</c:v>
                  </c:pt>
                  <c:pt idx="2">
                    <c:v>ConvNeXt-Tiny</c:v>
                  </c:pt>
                  <c:pt idx="3">
                    <c:v>DINOv2 ViT-S/14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0.984</c:v>
                </c:pt>
                <c:pt idx="1">
                  <c:v>0.982</c:v>
                </c:pt>
                <c:pt idx="2">
                  <c:v>0.974</c:v>
                </c:pt>
                <c:pt idx="3">
                  <c:v>0.959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0-10s: upload a defective part; the heatmap lights up exactly on the defect. Say: it was never shown a single defect, only good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Defects are rare by design, so you can't collect hundreds of labelled examples. Flip the problem: learn what good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pick a product line, choose a sample or upload a photo; verdict and heatmap appear in about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 that proves it works: read the defects-caught and false-alarm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peek, kept simple. Key point for clients: nothing to label; a new product needs only good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three products live: screw, bottle, carpet. Then show a good part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client's risk: a small first step on their own parts before any big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demo is linked. If you want this on your production line, message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technical buyers: four backbones measured, compared with Intel anomalib on the same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DefectScope · AI visual inspection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iyanshu-singh-git.github.io/defectscope/" TargetMode="External"/><Relationship Id="rId3" Type="http://schemas.openxmlformats.org/officeDocument/2006/relationships/hyperlink" Target="https://github.com/Priyanshu-Singh-git/defectscope" TargetMode="Externa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heatmap" descr="Metal nut with a color defect, heatmap glowing over the def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96012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25335" y="5166360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025335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● </a:t>
            </a:r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Defect found here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928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VISUAL INSPECTION</a:t>
            </a:r>
            <a:endParaRPr lang="en-US" sz="1800" dirty="0"/>
          </a:p>
        </p:txBody>
      </p:sp>
      <p:sp>
        <p:nvSpPr>
          <p:cNvPr id="6" name="Product name"/>
          <p:cNvSpPr txBox="1"/>
          <p:nvPr/>
        </p:nvSpPr>
        <p:spPr>
          <a:xfrm>
            <a:off x="548640" y="1600200"/>
            <a:ext cx="5928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DefectScope</a:t>
            </a:r>
            <a:endParaRPr lang="en-US" sz="6600" dirty="0"/>
          </a:p>
        </p:txBody>
      </p:sp>
      <p:sp>
        <p:nvSpPr>
          <p:cNvPr id="7" name="USP"/>
          <p:cNvSpPr txBox="1"/>
          <p:nvPr/>
        </p:nvSpPr>
        <p:spPr>
          <a:xfrm>
            <a:off x="548640" y="2834640"/>
            <a:ext cx="5928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scratches and dents.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defect photos needed.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defect labels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606040" y="4572000"/>
            <a:ext cx="16459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Pixel heatmap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45720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9120" y="4572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Runs on CPU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defects make AI inspection hard.</a:t>
            </a:r>
            <a:endParaRPr lang="en-US" sz="34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2011680"/>
            <a:ext cx="3483864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AI needs defect photos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standard AI model must see hundreds of examples of every defect type. A good production line simply doesn't have them.</a:t>
            </a:r>
            <a:endParaRPr lang="en-US" sz="1500" dirty="0"/>
          </a:p>
        </p:txBody>
      </p:sp>
      <p:sp>
        <p:nvSpPr>
          <p:cNvPr id="9" name="Problem card 2"/>
          <p:cNvSpPr/>
          <p:nvPr/>
        </p:nvSpPr>
        <p:spPr>
          <a:xfrm>
            <a:off x="4352544" y="2011680"/>
            <a:ext cx="3483864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672584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defects slip through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scratch, crack or contamination nobody planned for goes straight past a model that was never shown it.</a:t>
            </a:r>
            <a:endParaRPr lang="en-US" sz="1500" dirty="0"/>
          </a:p>
        </p:txBody>
      </p:sp>
      <p:sp>
        <p:nvSpPr>
          <p:cNvPr id="14" name="Problem card 3"/>
          <p:cNvSpPr/>
          <p:nvPr/>
        </p:nvSpPr>
        <p:spPr>
          <a:xfrm>
            <a:off x="8156448" y="2011680"/>
            <a:ext cx="3483864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476488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64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checks don't scale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People get tired, disagree with each other, and can't check every part at line speed.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What you do have: photos of good parts.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That's all DefectScope needs.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photo. See pass/fail and where.</a:t>
            </a:r>
            <a:endParaRPr lang="en-US" sz="34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783080"/>
            <a:ext cx="694944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Demo screenshot" descr="DefectScope web app flagging a defect with a heat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42" y="1920240"/>
            <a:ext cx="6274636" cy="4160520"/>
          </a:xfrm>
          <a:prstGeom prst="rect">
            <a:avLst/>
          </a:prstGeom>
        </p:spPr>
      </p:pic>
      <p:sp>
        <p:nvSpPr>
          <p:cNvPr id="6" name="Point 1"/>
          <p:cNvSpPr/>
          <p:nvPr/>
        </p:nvSpPr>
        <p:spPr>
          <a:xfrm>
            <a:off x="7818120" y="1783080"/>
            <a:ext cx="382493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Point badge 1"/>
          <p:cNvSpPr/>
          <p:nvPr/>
        </p:nvSpPr>
        <p:spPr>
          <a:xfrm>
            <a:off x="804672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196596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from good parts only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37744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product line was set up from 209–320 photos of good parts. No defect photos, no labelling.</a:t>
            </a:r>
            <a:endParaRPr lang="en-US" sz="1300" dirty="0"/>
          </a:p>
        </p:txBody>
      </p:sp>
      <p:sp>
        <p:nvSpPr>
          <p:cNvPr id="11" name="Point 2"/>
          <p:cNvSpPr/>
          <p:nvPr/>
        </p:nvSpPr>
        <p:spPr>
          <a:xfrm>
            <a:off x="7818120" y="3337560"/>
            <a:ext cx="382493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Point badge 2"/>
          <p:cNvSpPr/>
          <p:nvPr/>
        </p:nvSpPr>
        <p:spPr>
          <a:xfrm>
            <a:off x="804672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52044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operator where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3192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heatmap marks the exact spot, so people can check it in seconds.</a:t>
            </a:r>
            <a:endParaRPr lang="en-US" sz="1300" dirty="0"/>
          </a:p>
        </p:txBody>
      </p:sp>
      <p:sp>
        <p:nvSpPr>
          <p:cNvPr id="16" name="Point 3"/>
          <p:cNvSpPr/>
          <p:nvPr/>
        </p:nvSpPr>
        <p:spPr>
          <a:xfrm>
            <a:off x="7818120" y="4892040"/>
            <a:ext cx="382493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Point badge 3"/>
          <p:cNvSpPr/>
          <p:nvPr/>
        </p:nvSpPr>
        <p:spPr>
          <a:xfrm>
            <a:off x="804672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467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pass/fail line you can trust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548640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reject threshold is set on good parts the model never saw, not tuned on the test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IN PLAIN NUMBERS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caught, what it wrongly rejected, how fast.</a:t>
            </a:r>
            <a:endParaRPr lang="en-US" sz="3400" dirty="0"/>
          </a:p>
        </p:txBody>
      </p:sp>
      <p:sp>
        <p:nvSpPr>
          <p:cNvPr id="4" name="Stat 1"/>
          <p:cNvSpPr/>
          <p:nvPr/>
        </p:nvSpPr>
        <p:spPr>
          <a:xfrm>
            <a:off x="548640" y="1783080"/>
            <a:ext cx="3483864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7063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of defective parts caught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average over 5 product types</a:t>
            </a:r>
            <a:endParaRPr lang="en-US" sz="1350" dirty="0"/>
          </a:p>
        </p:txBody>
      </p:sp>
      <p:sp>
        <p:nvSpPr>
          <p:cNvPr id="7" name="Stat 2"/>
          <p:cNvSpPr/>
          <p:nvPr/>
        </p:nvSpPr>
        <p:spPr>
          <a:xfrm>
            <a:off x="4352544" y="1783080"/>
            <a:ext cx="3483864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9659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626864" y="277063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of good parts wrongly rejected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the false alarms that cost you money</a:t>
            </a:r>
            <a:endParaRPr lang="en-US" sz="1350" dirty="0"/>
          </a:p>
        </p:txBody>
      </p:sp>
      <p:sp>
        <p:nvSpPr>
          <p:cNvPr id="10" name="Stat 3"/>
          <p:cNvSpPr/>
          <p:nvPr/>
        </p:nvSpPr>
        <p:spPr>
          <a:xfrm>
            <a:off x="8156448" y="1783080"/>
            <a:ext cx="3483864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19659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ms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77063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per part on a normal CPU (≈1,200 parts/min)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2 CPU threads, no GPU</a:t>
            </a:r>
            <a:endParaRPr lang="en-US" sz="1350" dirty="0"/>
          </a:p>
        </p:txBody>
      </p:sp>
      <p:graphicFrame>
        <p:nvGraphicFramePr>
          <p:cNvPr id="5" name="Per-produc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Defective parts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parts wrongly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 (62 of 63)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 (0 of 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  (90 of 119)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 (0 of 41)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 (88 of 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 (7 of 28)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nut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 (91 of 93)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 (1 of 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 (40 of 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 (2 of 60)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Honesty note"/>
          <p:cNvSpPr/>
          <p:nvPr/>
        </p:nvSpPr>
        <p:spPr>
          <a:xfrm>
            <a:off x="8092440" y="3840480"/>
            <a:ext cx="35506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40233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was measured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434840"/>
            <a:ext cx="30019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Public MVTec AD test images the model never saw, with one fixed pass/fail threshold per product. On your parts, the feasibility step measures these same numbers before you commit.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steps. No labelling project.</a:t>
            </a:r>
            <a:endParaRPr lang="en-US" sz="3400" dirty="0"/>
          </a:p>
        </p:txBody>
      </p:sp>
      <p:sp>
        <p:nvSpPr>
          <p:cNvPr id="4" name="Step 1"/>
          <p:cNvSpPr/>
          <p:nvPr/>
        </p:nvSpPr>
        <p:spPr>
          <a:xfrm>
            <a:off x="548640" y="2057400"/>
            <a:ext cx="33619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of good parts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813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few hundred photos of normal parts, taken at the 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0312" y="3246120"/>
            <a:ext cx="28346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Step 2"/>
          <p:cNvSpPr/>
          <p:nvPr/>
        </p:nvSpPr>
        <p:spPr>
          <a:xfrm>
            <a:off x="4413504" y="2057400"/>
            <a:ext cx="33619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 badge 2"/>
          <p:cNvSpPr/>
          <p:nvPr/>
        </p:nvSpPr>
        <p:spPr>
          <a:xfrm>
            <a:off x="4687824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782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7824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learns “normal”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87824" y="3520440"/>
            <a:ext cx="2813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pretrained vision network memorises what every small patch of a good part looks like.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85176" y="3246120"/>
            <a:ext cx="28346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tep 3"/>
          <p:cNvSpPr/>
          <p:nvPr/>
        </p:nvSpPr>
        <p:spPr>
          <a:xfrm>
            <a:off x="8278368" y="2057400"/>
            <a:ext cx="33619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Step badge 3"/>
          <p:cNvSpPr/>
          <p:nvPr/>
        </p:nvSpPr>
        <p:spPr>
          <a:xfrm>
            <a:off x="8552688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526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52688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flags anything else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52688" y="3520440"/>
            <a:ext cx="2813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Any patch that doesn't match normal is marked on a heatmap. Too far from normal means reject.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engineers: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from-scratch re-implementation of PatchCore (Roth et al., CVPR 2022) in PyTorch: mid-level features from a frozen backbone, a greedy-coreset memory bank, and nearest-neighbour patch scoring. Benchmarks are in the appendix.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DETECTIONS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found on parts it never saw.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 product: the defective test photo with the median score. Red outline = where the real defect is.</a:t>
            </a:r>
            <a:endParaRPr lang="en-US" sz="1400" dirty="0"/>
          </a:p>
        </p:txBody>
      </p:sp>
      <p:sp>
        <p:nvSpPr>
          <p:cNvPr id="5" name="Gallery frame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609"/>
            </a:avLst>
          </a:prstGeom>
          <a:solidFill>
            <a:srgbClr val="FCFCFB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Heatmap gallery" descr="Input images with true defect outlines above heat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601" y="2103120"/>
            <a:ext cx="9429750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WE'D WORK TOGETHER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small. See it work on your parts first.</a:t>
            </a:r>
            <a:endParaRPr lang="en-US" sz="3400" dirty="0"/>
          </a:p>
        </p:txBody>
      </p:sp>
      <p:sp>
        <p:nvSpPr>
          <p:cNvPr id="4" name="Work step 1"/>
          <p:cNvSpPr/>
          <p:nvPr/>
        </p:nvSpPr>
        <p:spPr>
          <a:xfrm>
            <a:off x="548640" y="2011680"/>
            <a:ext cx="3483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photos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few hundred photos of good parts from your line (this demo used 209–320), plus any defective ones you have.</a:t>
            </a:r>
            <a:endParaRPr lang="en-US" sz="1500" dirty="0"/>
          </a:p>
        </p:txBody>
      </p:sp>
      <p:sp>
        <p:nvSpPr>
          <p:cNvPr id="8" name="Work step 2"/>
          <p:cNvSpPr/>
          <p:nvPr/>
        </p:nvSpPr>
        <p:spPr>
          <a:xfrm>
            <a:off x="4352544" y="2011680"/>
            <a:ext cx="3483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6517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report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2004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set it up on your parts and report the real numbers: defects caught, false rejects, speed.</a:t>
            </a:r>
            <a:endParaRPr lang="en-US" sz="1500" dirty="0"/>
          </a:p>
        </p:txBody>
      </p:sp>
      <p:sp>
        <p:nvSpPr>
          <p:cNvPr id="12" name="Work step 3"/>
          <p:cNvSpPr/>
          <p:nvPr/>
        </p:nvSpPr>
        <p:spPr>
          <a:xfrm>
            <a:off x="8156448" y="2011680"/>
            <a:ext cx="3483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6488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6517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at the line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32004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Runs on a PC or edge box next to your camera, with a pass/fail signal your line can act on.</a:t>
            </a:r>
            <a:endParaRPr lang="en-US" sz="1500" dirty="0"/>
          </a:p>
        </p:txBody>
      </p:sp>
      <p:sp>
        <p:nvSpPr>
          <p:cNvPr id="16" name="What you get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get: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trained inspector for your product · an operator app or API · source code you own · setup docs so your team can add new products themselves.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" name="CTA headline"/>
          <p:cNvSpPr txBox="1"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 photos of your parts.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show you if it works.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QR code" descr="QR code to the live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0" y="324612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Try the live demo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priyanshu-singh-git.github.io/defectscope/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 and full benchmark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github.com/Priyanshu-Singh-git/defectscope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Priyanshu Singh · Freelance AI / ML Engineer · Demo set up on the public MVTec AD dataset (non-commercial licence); client systems are set up on your own parts.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 ENGINEERS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it.</a:t>
            </a:r>
            <a:endParaRPr lang="en-US" sz="3400" dirty="0"/>
          </a:p>
        </p:txBody>
      </p:sp>
      <p:sp>
        <p:nvSpPr>
          <p:cNvPr id="4" name="Chart frame"/>
          <p:cNvSpPr/>
          <p:nvPr/>
        </p:nvSpPr>
        <p:spPr>
          <a:xfrm>
            <a:off x="548640" y="1783080"/>
            <a:ext cx="576072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graphicFrame>
        <p:nvGraphicFramePr>
          <p:cNvPr id="5" name="Backbone comparison chart" descr=""/>
          <p:cNvGraphicFramePr/>
          <p:nvPr/>
        </p:nvGraphicFramePr>
        <p:xfrm>
          <a:off x="640080" y="1874520"/>
          <a:ext cx="5577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0" y="178308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published reference implementations</a:t>
            </a:r>
            <a:endParaRPr lang="en-US" sz="14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94560"/>
          <a:ext cx="5059375" cy="914400"/>
        </p:xfrm>
        <a:graphic>
          <a:graphicData uri="http://schemas.openxmlformats.org/drawingml/2006/table">
            <a:tbl>
              <a:tblPr/>
              <a:tblGrid>
                <a:gridCol w="2864815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DefectScope WideResNet-50 (mine)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DefectScope ResNet-18 (mine)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anomalib PatchCore WideResNet-50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anomalib PatchCore ResNet-18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anomalib PaDiM WideResNet-50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4709160"/>
            <a:ext cx="5059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Same 5 categories, image/pixel AUROC. Source: github.com/open-edge-platform/anomalib (v1.2.0 model benchmarks).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Keeping 1% of the memory bank (4 MB instead of 40 MB) costs 0.004 image AUROC.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fectScope">
      <a:dk1>
        <a:srgbClr val="1F2937"/>
      </a:dk1>
      <a:lt1>
        <a:srgbClr val="FFFFFF"/>
      </a:lt1>
      <a:dk2>
        <a:srgbClr val="4B5563"/>
      </a:dk2>
      <a:lt2>
        <a:srgbClr val="F6F5F4"/>
      </a:lt2>
      <a:accent1>
        <a:srgbClr val="EA580C"/>
      </a:accent1>
      <a:accent2>
        <a:srgbClr val="DC2626"/>
      </a:accent2>
      <a:accent3>
        <a:srgbClr val="F59E0B"/>
      </a:accent3>
      <a:accent4>
        <a:srgbClr val="B91C1C"/>
      </a:accent4>
      <a:accent5>
        <a:srgbClr val="6B7280"/>
      </a:accent5>
      <a:accent6>
        <a:srgbClr val="E5E7EB"/>
      </a:accent6>
      <a:hlink>
        <a:srgbClr val="EA580C"/>
      </a:hlink>
      <a:folHlink>
        <a:srgbClr val="B91C1C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DefectScope: label-free defect detection</dc:title>
  <dc:subject>PptxGenJS Presentation</dc:subject>
  <dc:creator>Priyanshu Singh</dc:creator>
  <cp:lastModifiedBy>Priyanshu Singh</cp:lastModifiedBy>
  <cp:revision>1</cp:revision>
  <dcterms:created xsi:type="dcterms:W3CDTF">2026-10-02T16:57:00Z</dcterms:created>
  <dcterms:modified xsi:type="dcterms:W3CDTF">2026-10-02T16:57:00Z</dcterms:modified>
</cp:coreProperties>
</file>